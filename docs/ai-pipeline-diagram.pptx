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0" r:id="rId14"/>
  </p:sldMasterIdLst>
  <p:sldIdLst>
    <p:sldId id="257" r:id="rId16"/>
    <p:sldId id="256" r:id="rId17"/>
    <p:sldId id="25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slide" Target="slides/slide1.xml"></Relationship><Relationship Id="rId17" Type="http://schemas.openxmlformats.org/officeDocument/2006/relationships/slide" Target="slides/slide2.xml"></Relationship><Relationship Id="rId18" Type="http://schemas.openxmlformats.org/officeDocument/2006/relationships/slide" Target="slides/slide3.xml"></Relationship><Relationship Id="rId19" Type="http://schemas.openxmlformats.org/officeDocument/2006/relationships/viewProps" Target="viewProps.xml"></Relationship><Relationship Id="rId20" Type="http://schemas.openxmlformats.org/officeDocument/2006/relationships/presProps" Target="presProps.xml"></Relationship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D3D"/>
                </a:solidFill>
                <a:latin typeface="맑은 고딕"/>
                <a:ea typeface="맑은 고딕"/>
              </a:rPr>
              <a:t>오탐 억제 로직 상세 — VLM 2차 검증 · 추적 확정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4864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8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L3  VLM 2차 검증 (SigLIP2)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맑은 고딕"/>
                <a:ea typeface="맑은 고딕"/>
              </a:rPr>
              <a:t>탐지 박스 영역을 잘라 이미지-텍스트 유사도로 재판정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ECF5EF"/>
          </a:solidFill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52"/>
                </a:solidFill>
                <a:latin typeface="맑은 고딕"/>
                <a:ea typeface="맑은 고딕"/>
              </a:rPr>
              <a:t>긍정 문구 (이것이 맞는가)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안전조끼를 입은 사람의 항공 사진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광산 현장의 덤프트럭 항공 사진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굴착기·유조차·픽업트럭 항공 사진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23360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B03A2E"/>
                </a:solidFill>
                <a:latin typeface="맑은 고딕"/>
                <a:ea typeface="맑은 고딕"/>
              </a:rPr>
              <a:t>오탐 유발 문구 (이것은 아닌가)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자갈·암석 더미, 쇄석 파편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바닥의 긴 그림자, 빈 흙바닥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방수포, 공사 잔해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40679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8A5AA8"/>
                </a:solidFill>
                <a:latin typeface="맑은 고딕"/>
                <a:ea typeface="맑은 고딕"/>
              </a:rPr>
              <a:t>오탐 문구 유사도가 더 높으면 해당 박스 제거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005840"/>
            <a:ext cx="54864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005840"/>
            <a:ext cx="5486400" cy="548640"/>
          </a:xfrm>
          <a:prstGeom prst="roundRect">
            <a:avLst>
              <a:gd name="adj" fmla="val 15000"/>
            </a:avLst>
          </a:prstGeom>
          <a:solidFill>
            <a:srgbClr val="C2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00584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L4  시간축 추적 확정 (ByteTrack)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7830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맑은 고딕"/>
                <a:ea typeface="맑은 고딕"/>
              </a:rPr>
              <a:t>프레임 간 동일 객체를 추적, 최근 5회 중 3회 이상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맑은 고딕"/>
                <a:ea typeface="맑은 고딕"/>
              </a:rPr>
              <a:t>확인된 객체만 ‘확정’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697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A6472"/>
                </a:solidFill>
                <a:latin typeface="맑은 고딕"/>
                <a:ea typeface="맑은 고딕"/>
              </a:rPr>
              <a:t>스냅샷 타임라인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59" y="30632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CF5EF"/>
          </a:solidFill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10896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40156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E7D52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30632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CF5EF"/>
          </a:solidFill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310896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40156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E7D52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21624" y="30632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310896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40156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맑은 고딕"/>
                <a:ea typeface="맑은 고딕"/>
              </a:rPr>
              <a:t>미감지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5" y="30632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CF5EF"/>
          </a:solidFill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310896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t4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340156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E7D52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05288" y="3063240"/>
            <a:ext cx="777240" cy="777240"/>
          </a:xfrm>
          <a:prstGeom prst="roundRect">
            <a:avLst>
              <a:gd name="adj" fmla="val 8000"/>
            </a:avLst>
          </a:prstGeom>
          <a:solidFill>
            <a:srgbClr val="ECF5EF"/>
          </a:solidFill>
          <a:ln w="12700">
            <a:solidFill>
              <a:srgbClr val="2E7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3108960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3401568"/>
            <a:ext cx="777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E7D52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52"/>
                </a:solidFill>
                <a:latin typeface="맑은 고딕"/>
                <a:ea typeface="맑은 고딕"/>
              </a:rPr>
              <a:t>5회 중 4회 감지  →  확정 → 알림 발생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59" y="4526280"/>
            <a:ext cx="493776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66344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D3D"/>
                </a:solidFill>
                <a:latin typeface="맑은 고딕"/>
                <a:ea typeface="맑은 고딕"/>
              </a:rPr>
              <a:t>효과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한두 프레임에만 잡힌 순간 오탐은 알림 미발생</a:t>
            </a:r>
          </a:p>
          <a:p>
            <a:pPr algn="l"/>
            <a:r>
              <a:rPr sz="1050" b="0">
                <a:solidFill>
                  <a:srgbClr val="1F2D3D"/>
                </a:solidFill>
                <a:latin typeface="맑은 고딕"/>
                <a:ea typeface="맑은 고딕"/>
              </a:rPr>
              <a:t>• 미확정 추적 샘플은 L5 학습 데이터로 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2D3D"/>
                </a:solidFill>
                <a:latin typeface="맑은 고딕"/>
                <a:ea typeface="맑은 고딕"/>
              </a:rPr>
              <a:t>AI 탐지 파이프라인 구조 (5단계)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49808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드론 항공 영상 특성(소형 객체, 자갈·그림자 오탐)을 고려해 탐지 → 보완 → 검증 → 추적 단계로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960120" cy="2331720"/>
          </a:xfrm>
          <a:prstGeom prst="roundRect">
            <a:avLst>
              <a:gd name="adj" fmla="val 8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417320"/>
            <a:ext cx="813816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드론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영상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스냅샷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89888" y="2464308"/>
            <a:ext cx="292608" cy="237744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2496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82496" y="1417320"/>
            <a:ext cx="1847088" cy="566928"/>
          </a:xfrm>
          <a:prstGeom prst="roundRect">
            <a:avLst>
              <a:gd name="adj" fmla="val 18000"/>
            </a:avLst>
          </a:prstGeom>
          <a:solidFill>
            <a:srgbClr val="2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8216" y="1463040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L1  이중 모델 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130552"/>
            <a:ext cx="16276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YOLO26 + D-FINE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두 모델 병행 추론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WBF 박스 융합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2224" y="3182111"/>
            <a:ext cx="1627632" cy="411480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3182111"/>
            <a:ext cx="15910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F5D8F"/>
                </a:solidFill>
                <a:latin typeface="맑은 고딕"/>
                <a:ea typeface="맑은 고딕"/>
              </a:rPr>
              <a:t>단일 모델 누락 보완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47872" y="2464308"/>
            <a:ext cx="292608" cy="237744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1417320"/>
            <a:ext cx="1847088" cy="566928"/>
          </a:xfrm>
          <a:prstGeom prst="roundRect">
            <a:avLst>
              <a:gd name="adj" fmla="val 18000"/>
            </a:avLst>
          </a:prstGeom>
          <a:solidFill>
            <a:srgbClr val="3A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463040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L2  타일 분할 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130552"/>
            <a:ext cx="16276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SAHI 방식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768px 타일 재탐지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전체 결과와 융합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0208" y="3182111"/>
            <a:ext cx="1627632" cy="411480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3182111"/>
            <a:ext cx="15910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A7C6A"/>
                </a:solidFill>
                <a:latin typeface="맑은 고딕"/>
                <a:ea typeface="맑은 고딕"/>
              </a:rPr>
              <a:t>원거리 소형 객체 탐지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05856" y="2464308"/>
            <a:ext cx="292608" cy="237744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98464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98464" y="1417320"/>
            <a:ext cx="1847088" cy="566928"/>
          </a:xfrm>
          <a:prstGeom prst="roundRect">
            <a:avLst>
              <a:gd name="adj" fmla="val 18000"/>
            </a:avLst>
          </a:prstGeom>
          <a:solidFill>
            <a:srgbClr val="8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1463040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L3  VLM 2차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130552"/>
            <a:ext cx="16276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SigLIP2 영역 재판정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긍정 vs 오탐 문구 비교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자갈·그림자 필터링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3182111"/>
            <a:ext cx="1627632" cy="411480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182111"/>
            <a:ext cx="15910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5AA8"/>
                </a:solidFill>
                <a:latin typeface="맑은 고딕"/>
                <a:ea typeface="맑은 고딕"/>
              </a:rPr>
              <a:t>유사 패턴 오탐 제거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63840" y="2464308"/>
            <a:ext cx="292608" cy="237744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56448" y="1417320"/>
            <a:ext cx="18470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56448" y="1417320"/>
            <a:ext cx="1847088" cy="566928"/>
          </a:xfrm>
          <a:prstGeom prst="roundRect">
            <a:avLst>
              <a:gd name="adj" fmla="val 18000"/>
            </a:avLst>
          </a:prstGeom>
          <a:solidFill>
            <a:srgbClr val="C2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1463040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L4  시간축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2130552"/>
            <a:ext cx="162763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ByteTrack 추적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N회 중 M회 확인 시 확정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맑은 고딕"/>
                <a:ea typeface="맑은 고딕"/>
              </a:rPr>
              <a:t>확정 객체만 알림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66175" y="3182111"/>
            <a:ext cx="1627632" cy="411480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3182111"/>
            <a:ext cx="1591056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C26B2C"/>
                </a:solidFill>
                <a:latin typeface="맑은 고딕"/>
                <a:ea typeface="맑은 고딕"/>
              </a:rPr>
              <a:t>순간 오탐 → 오경보 차단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021824" y="2464308"/>
            <a:ext cx="292608" cy="237744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14432" y="1417320"/>
            <a:ext cx="1325880" cy="2331720"/>
          </a:xfrm>
          <a:prstGeom prst="roundRect">
            <a:avLst>
              <a:gd name="adj" fmla="val 8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05872" y="1417320"/>
            <a:ext cx="1143000" cy="2331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확정 이벤트</a:t>
            </a:r>
          </a:p>
          <a:p>
            <a:pPr algn="ctr"/>
            <a:r>
              <a:rPr sz="4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위험 알림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아카이브 저장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  <a:ea typeface="맑은 고딕"/>
              </a:rPr>
              <a:t>관제 UI 표시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01000" y="3749039"/>
            <a:ext cx="0" cy="411481"/>
          </a:xfrm>
          <a:prstGeom prst="bentConnector3">
            <a:avLst/>
          </a:prstGeom>
          <a:ln w="15875">
            <a:solidFill>
              <a:srgbClr val="5A647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98464" y="4160520"/>
            <a:ext cx="4005072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4270248"/>
            <a:ext cx="37307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E7884"/>
                </a:solidFill>
                <a:latin typeface="맑은 고딕"/>
                <a:ea typeface="맑은 고딕"/>
              </a:rPr>
              <a:t>L5  학습 데이터 자동 수집 (Active Learning)</a:t>
            </a:r>
          </a:p>
          <a:p>
            <a:pPr algn="l"/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저신뢰 탐지·검증 탈락 샘플 자동 저장 → 향후 파인튜닝 데이터셋으로 축적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440680"/>
            <a:ext cx="11338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2D3D"/>
                </a:solidFill>
                <a:latin typeface="맑은 고딕"/>
                <a:ea typeface="맑은 고딕"/>
              </a:rPr>
              <a:t>분석 프로파일별 실행 단계  —  운영 상황에 따라 속도/정확도 선택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585216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1480" y="585216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8521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빠름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9436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D3D"/>
                </a:solidFill>
                <a:latin typeface="맑은 고딕"/>
                <a:ea typeface="맑은 고딕"/>
              </a:rPr>
              <a:t>L1 + L3</a:t>
            </a:r>
          </a:p>
          <a:p>
            <a:pPr algn="l"/>
            <a:r>
              <a:rPr sz="950" b="0">
                <a:solidFill>
                  <a:srgbClr val="5A6472"/>
                </a:solidFill>
                <a:latin typeface="맑은 고딕"/>
                <a:ea typeface="맑은 고딕"/>
              </a:rPr>
              <a:t>짧은 분석 주기(2초 이하), 경량 모델로 빠른 순환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33672" y="585216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33672" y="585216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33672" y="58521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균형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48072" y="59436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D3D"/>
                </a:solidFill>
                <a:latin typeface="맑은 고딕"/>
                <a:ea typeface="맑은 고딕"/>
              </a:rPr>
              <a:t>L1 + L2 + L3 + L4</a:t>
            </a:r>
          </a:p>
          <a:p>
            <a:pPr algn="l"/>
            <a:r>
              <a:rPr sz="950" b="0">
                <a:solidFill>
                  <a:srgbClr val="5A6472"/>
                </a:solidFill>
                <a:latin typeface="맑은 고딕"/>
                <a:ea typeface="맑은 고딕"/>
              </a:rPr>
              <a:t>타일 분할·추적 포함, 기본 운영 모드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55863" y="5852160"/>
            <a:ext cx="36576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055863" y="585216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55863" y="58521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정밀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70263" y="594360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D3D"/>
                </a:solidFill>
                <a:latin typeface="맑은 고딕"/>
                <a:ea typeface="맑은 고딕"/>
              </a:rPr>
              <a:t>L1 ~ L5 전체 + 이중 모델</a:t>
            </a:r>
          </a:p>
          <a:p>
            <a:pPr algn="l"/>
            <a:r>
              <a:rPr sz="950" b="0">
                <a:solidFill>
                  <a:srgbClr val="5A6472"/>
                </a:solidFill>
                <a:latin typeface="맑은 고딕"/>
                <a:ea typeface="맑은 고딕"/>
              </a:rPr>
              <a:t>전체 단계 실행, 최대 정확도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5905"/>
            <a:ext cx="11339195" cy="369570"/>
          </a:xfrm>
          <a:prstGeom prst="rect">
            <a:avLst/>
          </a:prstGeom>
          <a:noFill/>
        </p:spPr>
        <p:txBody>
          <a:bodyPr wrap="square" lIns="0" tIns="0" rIns="0" bIns="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sz="2400" b="1">
                <a:solidFill>
                  <a:srgbClr val="1F2D3D"/>
                </a:solidFill>
                <a:latin typeface="맑은 고딕" charset="0"/>
                <a:ea typeface="맑은 고딕" charset="0"/>
              </a:rPr>
              <a:t>용어 설명 — 적용 기술</a:t>
            </a:r>
            <a:endParaRPr lang="ko-KR" altLang="en-US" sz="2400" b="1">
              <a:solidFill>
                <a:srgbClr val="1F2D3D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480" y="96012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96012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2F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5945" y="96012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YOLO26 · D-FINE — 객체 탐지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417320" cy="132588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01295" cy="365760"/>
          </a:xfrm>
          <a:prstGeom prst="rect">
            <a:avLst/>
          </a:prstGeom>
          <a:noFill/>
          <a:ln w="25400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665" y="2404745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F5D8F"/>
                </a:solidFill>
                <a:latin typeface="맑은 고딕"/>
                <a:ea typeface="맑은 고딕"/>
              </a:rPr>
              <a:t>사람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2468880"/>
            <a:ext cx="457200" cy="274320"/>
          </a:xfrm>
          <a:prstGeom prst="rect">
            <a:avLst/>
          </a:prstGeom>
          <a:noFill/>
          <a:ln w="25400">
            <a:solidFill>
              <a:srgbClr val="3A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70505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3A7C6A"/>
                </a:solidFill>
                <a:latin typeface="맑은 고딕"/>
                <a:ea typeface="맑은 고딕"/>
              </a:rPr>
              <a:t>차량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사진 속 위치를 박스로 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425" y="1673225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사진에서 사람·차량이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어디 있는지 네모 박스로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찾아내는 AI 모델.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성격이 다른 모델 2개를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함께 돌려 서로 놓친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것을 보완.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545" y="96012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545" y="96012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3A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010" y="96012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WBF — 박스 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011680"/>
            <a:ext cx="457200" cy="384175"/>
          </a:xfrm>
          <a:prstGeom prst="rect">
            <a:avLst/>
          </a:prstGeom>
          <a:noFill/>
          <a:ln w="19050">
            <a:solidFill>
              <a:srgbClr val="2F5D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7390" y="2130425"/>
            <a:ext cx="457200" cy="384175"/>
          </a:xfrm>
          <a:prstGeom prst="rect">
            <a:avLst/>
          </a:prstGeom>
          <a:noFill/>
          <a:ln w="19050">
            <a:solidFill>
              <a:srgbClr val="3A7C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066030" y="2167255"/>
            <a:ext cx="237490" cy="164465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76545" y="2057400"/>
            <a:ext cx="457200" cy="384175"/>
          </a:xfrm>
          <a:prstGeom prst="rect">
            <a:avLst/>
          </a:prstGeom>
          <a:noFill/>
          <a:ln w="3175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705" y="2743200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모델 A·B가 그린 박스를</a:t>
            </a:r>
          </a:p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평균해 하나로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52490" y="1673225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두 모델이 같은 물체에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각각 그린 박스를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평균 내서 하나로 합치는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계산 방법.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박스 위치가 더 정확해짐.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610" y="96012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55610" y="96012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8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710" y="96012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SAHI — 타일 분할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9930" y="1600200"/>
            <a:ext cx="1097280" cy="73152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695690" y="1600200"/>
            <a:ext cx="0" cy="731520"/>
          </a:xfrm>
          <a:prstGeom prst="line">
            <a:avLst/>
          </a:prstGeom>
          <a:ln w="9525">
            <a:solidFill>
              <a:srgbClr val="C8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61450" y="1600200"/>
            <a:ext cx="0" cy="731520"/>
          </a:xfrm>
          <a:prstGeom prst="line">
            <a:avLst/>
          </a:prstGeom>
          <a:ln w="9525">
            <a:solidFill>
              <a:srgbClr val="C8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9930" y="1965960"/>
            <a:ext cx="1097280" cy="0"/>
          </a:xfrm>
          <a:prstGeom prst="line">
            <a:avLst/>
          </a:prstGeom>
          <a:ln w="9525">
            <a:solidFill>
              <a:srgbClr val="C8CF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061450" y="1965960"/>
            <a:ext cx="365760" cy="365760"/>
          </a:xfrm>
          <a:prstGeom prst="rect">
            <a:avLst/>
          </a:prstGeom>
          <a:noFill/>
          <a:ln w="254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8759825" y="2423160"/>
            <a:ext cx="182880" cy="237490"/>
          </a:xfrm>
          <a:prstGeom prst="down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12810" y="2743200"/>
            <a:ext cx="73152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F373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759825" y="2898775"/>
            <a:ext cx="118745" cy="237490"/>
          </a:xfrm>
          <a:prstGeom prst="rect">
            <a:avLst/>
          </a:prstGeom>
          <a:noFill/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2770" y="342900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조각 확대 → 작은 사람 발견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5190" y="1673225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고해상도 사진을 바둑판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처럼 잘라 조각마다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확대 분석하는 기법.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멀리 있어 몇 픽셀로만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찍힌 사람도 찾아냄.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" y="37947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1480" y="379476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8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5945" y="379476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SigLIP2 — 이미지·문장 비교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480560"/>
            <a:ext cx="777240" cy="54864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636135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탐지 영역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>
                <a:solidFill>
                  <a:srgbClr val="2E7D52"/>
                </a:solidFill>
                <a:latin typeface="맑은 고딕"/>
                <a:ea typeface="맑은 고딕"/>
              </a:rPr>
              <a:t>↔ '사람' 문장: 85점</a:t>
            </a:r>
          </a:p>
          <a:p>
            <a:pPr algn="ctr"/>
            <a:r>
              <a:rPr sz="950" b="1">
                <a:solidFill>
                  <a:srgbClr val="5A6472"/>
                </a:solidFill>
                <a:latin typeface="맑은 고딕"/>
                <a:ea typeface="맑은 고딕"/>
              </a:rPr>
              <a:t>↔ '자갈' 문장: 12점</a:t>
            </a:r>
          </a:p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더 닮은 쪽으로 판정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0425" y="4507865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이미지가 어떤 문장과 더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닮았는지 점수로 매기는 AI.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탐지된 영역이 '사람'보다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'자갈 더미' 문장에 가까우면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오탐으로 보고 삭제.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33545" y="37947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233545" y="379476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C2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98010" y="379476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ByteTrack — 객체 추적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70705" y="4709160"/>
            <a:ext cx="40259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25950" y="4910455"/>
            <a:ext cx="109855" cy="1828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705" y="4736465"/>
            <a:ext cx="40259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26B2C"/>
                </a:solidFill>
                <a:latin typeface="맑은 고딕"/>
                <a:ea typeface="맑은 고딕"/>
              </a:rPr>
              <a:t>#7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786630" y="4892040"/>
            <a:ext cx="91440" cy="9144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92040" y="4709160"/>
            <a:ext cx="40259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0310" y="4910455"/>
            <a:ext cx="109855" cy="1828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4736465"/>
            <a:ext cx="40259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26B2C"/>
                </a:solidFill>
                <a:latin typeface="맑은 고딕"/>
                <a:ea typeface="맑은 고딕"/>
              </a:rPr>
              <a:t>#7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5307965" y="4892040"/>
            <a:ext cx="91440" cy="9144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13375" y="4709160"/>
            <a:ext cx="402590" cy="502920"/>
          </a:xfrm>
          <a:prstGeom prst="rect">
            <a:avLst/>
          </a:prstGeom>
          <a:solidFill>
            <a:srgbClr val="F2F4F7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14670" y="4910455"/>
            <a:ext cx="109855" cy="1828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13375" y="4736465"/>
            <a:ext cx="40259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26B2C"/>
                </a:solidFill>
                <a:latin typeface="맑은 고딕"/>
                <a:ea typeface="맑은 고딕"/>
              </a:rPr>
              <a:t>#7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0705" y="5349240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연속 사진에서 같은 물체에</a:t>
            </a:r>
          </a:p>
          <a:p>
            <a:pPr algn="ctr"/>
            <a:r>
              <a:rPr sz="850" b="0">
                <a:solidFill>
                  <a:srgbClr val="5A6472"/>
                </a:solidFill>
                <a:latin typeface="맑은 고딕"/>
                <a:ea typeface="맑은 고딕"/>
              </a:rPr>
              <a:t>같은 번호를 붙여 추적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2490" y="4507865"/>
            <a:ext cx="1783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연속된 사진에서 같은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물체를 계속 따라가며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번호를 붙이는 기술.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여러 번 반복 확인된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물체만 진짜로 인정.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55610" y="3794760"/>
            <a:ext cx="365760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C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55610" y="3794760"/>
            <a:ext cx="3657600" cy="475615"/>
          </a:xfrm>
          <a:prstGeom prst="roundRect">
            <a:avLst>
              <a:gd name="adj" fmla="val 22000"/>
            </a:avLst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0710" y="3794760"/>
            <a:ext cx="3328670" cy="47561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오탐 · 미탐 — 왜 5단계인가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56905" y="4480560"/>
            <a:ext cx="3255010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03A2E"/>
                </a:solidFill>
                <a:latin typeface="맑은 고딕"/>
                <a:ea typeface="맑은 고딕"/>
              </a:rPr>
              <a:t>오탐 (잘못 인식)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자갈·그림자를 사람으로 착각</a:t>
            </a:r>
          </a:p>
          <a:p>
            <a:pPr algn="l"/>
            <a:r>
              <a:rPr sz="1000" b="0">
                <a:solidFill>
                  <a:srgbClr val="5A6472"/>
                </a:solidFill>
                <a:latin typeface="맑은 고딕"/>
                <a:ea typeface="맑은 고딕"/>
              </a:rPr>
              <a:t>→ SigLIP2 검증 + 추적 확정이 걸러냄</a:t>
            </a:r>
          </a:p>
          <a:p>
            <a:pPr algn="l"/>
            <a:r>
              <a:rPr sz="600" b="0">
                <a:solidFill>
                  <a:srgbClr val="1F2D3D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100" b="1">
                <a:solidFill>
                  <a:srgbClr val="2F5D8F"/>
                </a:solidFill>
                <a:latin typeface="맑은 고딕"/>
                <a:ea typeface="맑은 고딕"/>
              </a:rPr>
              <a:t>미탐 (놓침)</a:t>
            </a:r>
          </a:p>
          <a:p>
            <a:pPr algn="l"/>
            <a:r>
              <a:rPr sz="1000" b="0">
                <a:solidFill>
                  <a:srgbClr val="1F2D3D"/>
                </a:solidFill>
                <a:latin typeface="맑은 고딕"/>
                <a:ea typeface="맑은 고딕"/>
              </a:rPr>
              <a:t>작게 찍힌 사람·차량을 못 찾음</a:t>
            </a:r>
          </a:p>
          <a:p>
            <a:pPr algn="l"/>
            <a:r>
              <a:rPr sz="1000" b="0">
                <a:solidFill>
                  <a:srgbClr val="5A6472"/>
                </a:solidFill>
                <a:latin typeface="맑은 고딕"/>
                <a:ea typeface="맑은 고딕"/>
              </a:rPr>
              <a:t>→ 이중 모델 + 타일 분할이 보완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유병권</cp:lastModifiedBy>
  <cp:version>10.105.293.56114</cp:version>
  <dcterms:modified xsi:type="dcterms:W3CDTF">2013-01-27T09:15:58Z</dcterms:modified>
</cp:coreProperties>
</file>